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k=3</c:v>
                </c:pt>
                <c:pt idx="1">
                  <c:v>k=5</c:v>
                </c:pt>
                <c:pt idx="2">
                  <c:v>k=10</c:v>
                </c:pt>
                <c:pt idx="3">
                  <c:v>k=15</c:v>
                </c:pt>
                <c:pt idx="4">
                  <c:v>k=20</c:v>
                </c:pt>
                <c:pt idx="5">
                  <c:v>k=25</c:v>
                </c:pt>
                <c:pt idx="6">
                  <c:v>k=30</c:v>
                </c:pt>
                <c:pt idx="7">
                  <c:v>k=35</c:v>
                </c:pt>
                <c:pt idx="8">
                  <c:v>k=40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0.76</c:v>
                </c:pt>
                <c:pt idx="1">
                  <c:v>0.73</c:v>
                </c:pt>
                <c:pt idx="2">
                  <c:v>0.72</c:v>
                </c:pt>
                <c:pt idx="3">
                  <c:v>0.71</c:v>
                </c:pt>
                <c:pt idx="4">
                  <c:v>0.71</c:v>
                </c:pt>
                <c:pt idx="5">
                  <c:v>0.7</c:v>
                </c:pt>
                <c:pt idx="6">
                  <c:v>0.7</c:v>
                </c:pt>
                <c:pt idx="7">
                  <c:v>0.69</c:v>
                </c:pt>
                <c:pt idx="8">
                  <c:v>0.69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CF-45BE-9B21-5315B13D4B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k=3</c:v>
                </c:pt>
                <c:pt idx="1">
                  <c:v>k=5</c:v>
                </c:pt>
                <c:pt idx="2">
                  <c:v>k=10</c:v>
                </c:pt>
                <c:pt idx="3">
                  <c:v>k=15</c:v>
                </c:pt>
                <c:pt idx="4">
                  <c:v>k=20</c:v>
                </c:pt>
                <c:pt idx="5">
                  <c:v>k=25</c:v>
                </c:pt>
                <c:pt idx="6">
                  <c:v>k=30</c:v>
                </c:pt>
                <c:pt idx="7">
                  <c:v>k=35</c:v>
                </c:pt>
                <c:pt idx="8">
                  <c:v>k=40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0.64</c:v>
                </c:pt>
                <c:pt idx="1">
                  <c:v>0.67</c:v>
                </c:pt>
                <c:pt idx="2">
                  <c:v>0.68</c:v>
                </c:pt>
                <c:pt idx="3">
                  <c:v>0.69</c:v>
                </c:pt>
                <c:pt idx="4">
                  <c:v>0.7</c:v>
                </c:pt>
                <c:pt idx="5">
                  <c:v>0.7</c:v>
                </c:pt>
                <c:pt idx="6">
                  <c:v>0.7</c:v>
                </c:pt>
                <c:pt idx="7">
                  <c:v>0.7</c:v>
                </c:pt>
                <c:pt idx="8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CF-45BE-9B21-5315B13D4B6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55000000000000004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max_depth vs Accuracy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depth=3</c:v>
                </c:pt>
                <c:pt idx="1">
                  <c:v>depth=5</c:v>
                </c:pt>
                <c:pt idx="2">
                  <c:v>depth=8</c:v>
                </c:pt>
                <c:pt idx="3">
                  <c:v>depth=10</c:v>
                </c:pt>
                <c:pt idx="4">
                  <c:v>depth=15</c:v>
                </c:pt>
                <c:pt idx="5">
                  <c:v>depth=20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0.62</c:v>
                </c:pt>
                <c:pt idx="1">
                  <c:v>0.7</c:v>
                </c:pt>
                <c:pt idx="2">
                  <c:v>0.76</c:v>
                </c:pt>
                <c:pt idx="3">
                  <c:v>0.78</c:v>
                </c:pt>
                <c:pt idx="4">
                  <c:v>0.81</c:v>
                </c:pt>
                <c:pt idx="5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F2-4FC6-BA40-A6EB185B54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depth=3</c:v>
                </c:pt>
                <c:pt idx="1">
                  <c:v>depth=5</c:v>
                </c:pt>
                <c:pt idx="2">
                  <c:v>depth=8</c:v>
                </c:pt>
                <c:pt idx="3">
                  <c:v>depth=10</c:v>
                </c:pt>
                <c:pt idx="4">
                  <c:v>depth=15</c:v>
                </c:pt>
                <c:pt idx="5">
                  <c:v>depth=20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0.61</c:v>
                </c:pt>
                <c:pt idx="1">
                  <c:v>0.69</c:v>
                </c:pt>
                <c:pt idx="2">
                  <c:v>0.72</c:v>
                </c:pt>
                <c:pt idx="3">
                  <c:v>0.73</c:v>
                </c:pt>
                <c:pt idx="4">
                  <c:v>0.72</c:v>
                </c:pt>
                <c:pt idx="5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F2-4FC6-BA40-A6EB185B54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SVM Kernel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RBF</c:v>
                </c:pt>
                <c:pt idx="2">
                  <c:v>Poly</c:v>
                </c:pt>
                <c:pt idx="3">
                  <c:v>Sigmoid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</c:v>
                </c:pt>
                <c:pt idx="1">
                  <c:v>0.76200000000000001</c:v>
                </c:pt>
                <c:pt idx="2">
                  <c:v>0.74</c:v>
                </c:pt>
                <c:pt idx="3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94-4289-A47D-B03863FCD6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5500000000000000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94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D047-3B9C-A271-0033-7054A9F94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07C85-C7C3-BC0B-0319-0181ADF11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7BAA2-AB63-E96C-96E1-6C185D7BC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8A089-FD98-BE86-1921-BDA8CB4BE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27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91440"/>
            <a:ext cx="1645920" cy="164592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and ML  |  Course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Performance Analytics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Intelligent Classification System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Fitness Dataset  •  Machine Learning Pipeline  •  Predictive Modeling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1828800" cy="10515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13,392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3703320"/>
            <a:ext cx="1828800" cy="10515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5176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51760" y="4224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703320"/>
            <a:ext cx="1828800" cy="10515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4224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3703320"/>
            <a:ext cx="1828800" cy="10515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40880" y="4224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1480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9235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923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2893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13,392 records • 12 features • Physical fitness indicators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73152" cy="1188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114800" cy="347472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" y="22951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295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EDA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26609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• Missing values • Duplicates • Validity checks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411480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" y="36667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" y="40325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• Outliers • Correlations • Key insights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8686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86868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868680"/>
            <a:ext cx="411480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56048" y="9235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923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12893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• Decision Tree • SVM • Neural Network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2402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2240280"/>
            <a:ext cx="73152" cy="1188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2240280"/>
            <a:ext cx="4114800" cy="347472"/>
          </a:xfrm>
          <a:prstGeom prst="rect">
            <a:avLst/>
          </a:prstGeom>
          <a:solidFill>
            <a:srgbClr val="DB277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56048" y="22951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2295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56048" y="26609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80:20 • 70:30 • 50:50 splits • K-Fold CV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6118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611880"/>
            <a:ext cx="73152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3611880"/>
            <a:ext cx="4114800" cy="34747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56048" y="36667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4068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56048" y="40325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• F1 • Confusion Matrix • Best Model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Dataset Description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Body Performance Dataset (Kaggle)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72821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Individuals undergoing fitness evaluation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1305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13,393 (13,392 after deduplication)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5328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12 (11 features + 1 target: class)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93522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Performance class (A, B, C, D)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Mixed (numeric + categorical)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73989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Present in some columns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41422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rows: 1 detected and removed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868680"/>
            <a:ext cx="44348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34840" y="868680"/>
            <a:ext cx="4434840" cy="38404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8869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 •  Type  •  Description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1316736"/>
            <a:ext cx="4434840" cy="2834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80560" y="133502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0" y="133502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13350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participant (years)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1600200"/>
            <a:ext cx="443484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6184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0" y="161848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16184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/ 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1883664"/>
            <a:ext cx="4434840" cy="2834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80560" y="190195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height_cm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0" y="190195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190195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in centimeters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34840" y="2167128"/>
            <a:ext cx="443484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80560" y="218541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weight_kg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0" y="218541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218541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weight (kg)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34840" y="2450592"/>
            <a:ext cx="4434840" cy="2834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80560" y="2468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body_fat_%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0" y="246888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24688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 percentage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34840" y="2734056"/>
            <a:ext cx="443484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80560" y="275234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0" y="275234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275234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blood pressure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34840" y="3017520"/>
            <a:ext cx="4434840" cy="2834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80560" y="303580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43600" y="303580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303580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blood pressure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34840" y="3300984"/>
            <a:ext cx="443484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80560" y="33192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gripForce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943600" y="331927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92240" y="331927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grip strength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34840" y="3584448"/>
            <a:ext cx="4434840" cy="2834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480560" y="360273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sit_and_bend_forward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943600" y="360273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92240" y="360273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(cm)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434840" y="3867912"/>
            <a:ext cx="443484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480560" y="388620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sit_ups_counts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943600" y="38862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92240" y="388620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Muscular endurance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434840" y="4151376"/>
            <a:ext cx="4434840" cy="2834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480560" y="41696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broad_jump_cm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943600" y="416966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92240" y="416966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power (cm)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434840" y="4434840"/>
            <a:ext cx="4434840" cy="283464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480560" y="445312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★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943600" y="445312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92240" y="445312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 / B / C / 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Output — Dataset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df.head() — First Rows of Data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74320" y="2971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— Shape &amp; Data Types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66344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800600" y="366674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B9D0F26B-8944-FC31-2681-BCE81D4E3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241548"/>
            <a:ext cx="3683726" cy="1810512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418BB5F5-F985-E8F9-0E5D-AAD8CA0B2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982980"/>
            <a:ext cx="8595360" cy="198882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42FBE3B9-D103-5EBE-6E89-E3F7E5D16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264408"/>
            <a:ext cx="4206240" cy="1581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solidFill>
            <a:srgbClr val="0D1B3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Duplicate Removal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25296"/>
            <a:ext cx="3886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243584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df.drop_duplicates(inplace=True)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13,393 → 13,392 rows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411480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114800" cy="347472"/>
          </a:xfrm>
          <a:prstGeom prst="rect">
            <a:avLst/>
          </a:prstGeom>
          <a:solidFill>
            <a:srgbClr val="0D1B3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868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Column Renaming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225296"/>
            <a:ext cx="3886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28616" y="1243584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df.rename(columns={'height_cm':'height', 'weight_kg':'weight', ...})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Standardized column names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249424"/>
            <a:ext cx="411480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249424"/>
            <a:ext cx="4114800" cy="347472"/>
          </a:xfrm>
          <a:prstGeom prst="rect">
            <a:avLst/>
          </a:prstGeom>
          <a:solidFill>
            <a:srgbClr val="0D1B3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295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Type Conversion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3886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" y="2670048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df['age'] = df['age'].astype(int)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df['gender'] = LabelEncoder().fit_transform(df['gender'])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191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M→1, F→0 | Age as int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249424"/>
            <a:ext cx="411480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2249424"/>
            <a:ext cx="4114800" cy="347472"/>
          </a:xfrm>
          <a:prstGeom prst="rect">
            <a:avLst/>
          </a:prstGeom>
          <a:solidFill>
            <a:srgbClr val="0D1B3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2295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Feature Scaling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2651760"/>
            <a:ext cx="3886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28616" y="2670048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scaler.fit_transform(X_train)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3191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Zero mean, unit variance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411480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675888"/>
            <a:ext cx="4114800" cy="347472"/>
          </a:xfrm>
          <a:prstGeom prst="rect">
            <a:avLst/>
          </a:prstGeom>
          <a:solidFill>
            <a:srgbClr val="0D1B3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Encoding Target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078224"/>
            <a:ext cx="3886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2336" y="4096512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= LabelEncoder()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le.fit_transform(df['class'])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4617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A→0, B→1, C→2, D→3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3675888"/>
            <a:ext cx="411480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3675888"/>
            <a:ext cx="4114800" cy="347472"/>
          </a:xfrm>
          <a:prstGeom prst="rect">
            <a:avLst/>
          </a:prstGeom>
          <a:solidFill>
            <a:srgbClr val="0D1B3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Feature Selection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4078224"/>
            <a:ext cx="3886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28616" y="4096512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df[['age','gender','body_fat','gripForce',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'sit_and_bend_forward','sit-ups','broad-jump']]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92040" y="4617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7 key features selected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Descriptive Statistics (df.describe())</a:t>
            </a:r>
            <a:endParaRPr lang="en-US" sz="2200" dirty="0"/>
          </a:p>
        </p:txBody>
      </p:sp>
      <p:sp>
        <p:nvSpPr>
          <p:cNvPr id="82" name="Shape 80"/>
          <p:cNvSpPr/>
          <p:nvPr/>
        </p:nvSpPr>
        <p:spPr>
          <a:xfrm>
            <a:off x="228600" y="3840480"/>
            <a:ext cx="8686800" cy="822960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28600" y="384048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65760" y="3886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Observations: Age ranges 21–64 (mean 36.7). Body fat ranges widely (3–78.4%). Grip force shows high individual variation.    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sit_and_bend_forward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negative min (−22.1 cm), indicating possible extreme values.</a:t>
            </a:r>
            <a:endParaRPr lang="en-US" sz="11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A6FCBD74-E54B-452E-D9E9-0A242E906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" y="731520"/>
            <a:ext cx="8951976" cy="29913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Distribution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 Shape Analysis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77840" y="1051560"/>
            <a:ext cx="32918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29184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23560" y="10698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50992" y="14630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11112" y="14630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right-skewed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50992" y="163677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participants aged 21–45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650992" y="1865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 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11112" y="1865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normal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50992" y="203911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23%, peak around 20–25%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50992" y="226771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Force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11112" y="2267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50992" y="244144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Gender-driven split in distribution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50992" y="26700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Jump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11112" y="2670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normal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50992" y="284378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bell curve, centered ~154 cm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50992" y="30723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Sit-Ups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11112" y="30723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Left-skewed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50992" y="324612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can do 30–60 reps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650992" y="34747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&amp; Bend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11112" y="3474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normal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50992" y="364845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on both extremes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74320" y="4069080"/>
            <a:ext cx="8595360" cy="749808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74320" y="4069080"/>
            <a:ext cx="64008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11480" y="411480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Most features show approximately normal distributions. Grip force is bimodal due to gender differences. Outlier handling was applied using IQR-based capping for blood pressure extremes.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F213DC2-2800-37DB-8D33-7B80588A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66" y="1024128"/>
            <a:ext cx="5441986" cy="29788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Key Findings from Python  (corr_matrix = df.corr())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468880" y="3410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4572000" y="1325880"/>
            <a:ext cx="4297680" cy="35021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4572000" y="1325880"/>
            <a:ext cx="429768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663440" y="13441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Correlations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4617720" y="1755648"/>
            <a:ext cx="4160520" cy="47548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617720" y="1755648"/>
            <a:ext cx="64008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736592" y="177393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sit_ups ↔ broad_jump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7452360" y="177393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+0.63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4736592" y="19659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fitness → better explosive power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617720" y="2258568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4617720" y="2258568"/>
            <a:ext cx="64008" cy="47548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736592" y="227685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gripForce ↔ broad_jump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7452360" y="227685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+0.52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4736592" y="24688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drives jump performance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4617720" y="2761488"/>
            <a:ext cx="4160520" cy="47548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617720" y="2761488"/>
            <a:ext cx="64008" cy="4754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4736592" y="277977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gripForce ↔ sit_ups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7452360" y="277977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+0.44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4736592" y="29718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physical strength correlation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4617720" y="3264408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4617720" y="3264408"/>
            <a:ext cx="64008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736592" y="328269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body_fat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7452360" y="328269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4736592" y="34747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age → higher body fat trend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4617720" y="3767328"/>
            <a:ext cx="4160520" cy="47548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4617720" y="3767328"/>
            <a:ext cx="64008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4736592" y="378561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body_fat ↔ gripForce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7452360" y="378561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-0.32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4736592" y="39776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fat → lower grip strength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4617720" y="4270248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617720" y="4270248"/>
            <a:ext cx="64008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4736592" y="428853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broad_jump</a:t>
            </a:r>
            <a:endParaRPr lang="en-US" sz="1050" dirty="0"/>
          </a:p>
        </p:txBody>
      </p:sp>
      <p:sp>
        <p:nvSpPr>
          <p:cNvPr id="120" name="Text 118"/>
          <p:cNvSpPr/>
          <p:nvPr/>
        </p:nvSpPr>
        <p:spPr>
          <a:xfrm>
            <a:off x="7452360" y="428853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-0.24</a:t>
            </a:r>
            <a:endParaRPr lang="en-US" sz="1200" dirty="0"/>
          </a:p>
        </p:txBody>
      </p:sp>
      <p:sp>
        <p:nvSpPr>
          <p:cNvPr id="121" name="Text 119"/>
          <p:cNvSpPr/>
          <p:nvPr/>
        </p:nvSpPr>
        <p:spPr>
          <a:xfrm>
            <a:off x="4736592" y="44805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declines with age</a:t>
            </a:r>
            <a:endParaRPr lang="en-US" sz="950" dirty="0"/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A3EEABCF-49EA-D842-8C5B-03F35FA0A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7" y="1321308"/>
            <a:ext cx="4297681" cy="3502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—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60520" cy="36576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73152" cy="12618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859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KNN — K-Nearest Neighbors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261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Best k=30, metric=manhattan, weights=distance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2336" y="147218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Classification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16733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5-fold GridSearchCV tuning over 40 candidates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160520" cy="36576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73152" cy="12618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DT — Decision Tree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2670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criterion=gini, max_depth=10, min_samples_leaf=4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" y="288036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Classification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1200 fits over 240 candidates in GridSearchCV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621024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621024"/>
            <a:ext cx="4160520" cy="365760"/>
          </a:xfrm>
          <a:prstGeom prst="rect">
            <a:avLst/>
          </a:prstGeom>
          <a:solidFill>
            <a:srgbClr val="7C3AED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73152" cy="12618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2336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SVM — Support Vector Machine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" y="4078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Best kernel=RBF (also tested Linear), C tuned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2336" y="428853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Classification + Decision Boundary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" y="4489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PCA used for 2D &amp; 3D boundary visualization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80467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804672"/>
            <a:ext cx="4160520" cy="365760"/>
          </a:xfrm>
          <a:prstGeom prst="rect">
            <a:avLst/>
          </a:prstGeom>
          <a:solidFill>
            <a:srgbClr val="DB2777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804672"/>
            <a:ext cx="73152" cy="1261872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74336" y="859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NN — Neural Network (MLP)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74336" y="1261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layers=(50,100), activation=relu, alpha=0.0001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74336" y="147218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Classification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74336" y="16733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Fast mode: 40 fits over 8 candidate configs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212848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2212848"/>
            <a:ext cx="4160520" cy="365760"/>
          </a:xfrm>
          <a:prstGeom prst="rect">
            <a:avLst/>
          </a:prstGeom>
          <a:solidFill>
            <a:srgbClr val="EF4444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2212848"/>
            <a:ext cx="73152" cy="12618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74336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LR — Linear Regression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74336" y="2670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Target: broad_jump_cm (continuous)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74336" y="288036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Regression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74336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Evaluated via MSE, RMSE, R² Score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852928"/>
            <a:ext cx="3977640" cy="1965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8348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Pipeline Code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320040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83480" y="3364992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83480" y="3529584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GridSearchCV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83480" y="3694176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83480" y="3858768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Pipeline([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83480" y="402336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('scaler', StandardScaler()),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83480" y="4187952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('model', KNeighborsClassifier())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83480" y="4352544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83480" y="4517136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GridSearchCV(pipe, param_grid, cv=5)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83480" y="4681728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grid.fit(X_train, y_train)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Results &amp; Hyperparameter Tuning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Output — GridSearchCV KNN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9105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41401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749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Value vs Accuracy</a:t>
            </a:r>
            <a:endParaRPr lang="en-US" sz="1100" dirty="0"/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3813529276"/>
              </p:ext>
            </p:extLst>
          </p:nvPr>
        </p:nvGraphicFramePr>
        <p:xfrm>
          <a:off x="5074920" y="1051560"/>
          <a:ext cx="37490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274320" y="4091940"/>
            <a:ext cx="8595360" cy="681228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74320" y="3904488"/>
            <a:ext cx="64008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11480" y="405079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KNN Performance: Best k=30 using manhattan distance with distance-weighted voting. As k increases, train accuracy slightly drops but validation stabilizes. The gap narrows at k≥20, indicating good generalization. KNN achieved ~7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overall accuracy on 4-class classification.</a:t>
            </a:r>
            <a:endParaRPr lang="en-US" sz="10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589D127-63DC-6AFE-247D-A507BE55F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12865"/>
            <a:ext cx="4572000" cy="26310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719F0-36DC-3EA7-9885-AAEF6849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5ED1D0-4B00-D21D-6CF5-26D98629E8AF}"/>
              </a:ext>
            </a:extLst>
          </p:cNvPr>
          <p:cNvSpPr/>
          <p:nvPr/>
        </p:nvSpPr>
        <p:spPr>
          <a:xfrm>
            <a:off x="0" y="27432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B630B4-E750-C847-6D72-6D3691D4B63E}"/>
              </a:ext>
            </a:extLst>
          </p:cNvPr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Visualization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D0E0748-4A1A-BF7A-9FB0-F51C699EAB59}"/>
              </a:ext>
            </a:extLst>
          </p:cNvPr>
          <p:cNvSpPr/>
          <p:nvPr/>
        </p:nvSpPr>
        <p:spPr>
          <a:xfrm>
            <a:off x="365760" y="159105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7DD8579-7EC9-6F0C-BC50-761232EBD351}"/>
              </a:ext>
            </a:extLst>
          </p:cNvPr>
          <p:cNvSpPr/>
          <p:nvPr/>
        </p:nvSpPr>
        <p:spPr>
          <a:xfrm>
            <a:off x="365760" y="241401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FE642B6-EDE4-D20B-8776-7355EA0E8E34}"/>
              </a:ext>
            </a:extLst>
          </p:cNvPr>
          <p:cNvSpPr/>
          <p:nvPr/>
        </p:nvSpPr>
        <p:spPr>
          <a:xfrm>
            <a:off x="274320" y="4091940"/>
            <a:ext cx="8595360" cy="681228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654254E7-4215-1798-2D3B-047240EF216E}"/>
              </a:ext>
            </a:extLst>
          </p:cNvPr>
          <p:cNvSpPr/>
          <p:nvPr/>
        </p:nvSpPr>
        <p:spPr>
          <a:xfrm>
            <a:off x="274320" y="3904488"/>
            <a:ext cx="64008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1DB1AAF-F22E-9FC0-368B-1019A983A4A6}"/>
              </a:ext>
            </a:extLst>
          </p:cNvPr>
          <p:cNvSpPr/>
          <p:nvPr/>
        </p:nvSpPr>
        <p:spPr>
          <a:xfrm>
            <a:off x="411480" y="405079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KNN Performance: Best k=30 using manhattan distance with distance-weighted voting. As k increases, train accuracy slightly drops but validation stabilizes. The gap narrows at k≥20, indicating good generalization. KNN achieved ~7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overall accuracy on 4-class classification.</a:t>
            </a:r>
            <a:endParaRPr lang="en-US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ED7113-490E-6BC5-7A42-D569A218A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4233673" cy="3182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5EEE21-0346-75F9-3B3E-855579996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3" y="713232"/>
            <a:ext cx="4636007" cy="31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7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Results &amp; Tuning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Output — GridSearchCV Decision Tree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9105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303520" y="777240"/>
          <a:ext cx="35204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274320" y="3410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(Decision Tree)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4320" y="3749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broad_jump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664208" y="3767328"/>
            <a:ext cx="2340864" cy="1554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050792" y="3749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" y="39502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sit_ups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664208" y="3968496"/>
            <a:ext cx="1755648" cy="1554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65576" y="3950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74320" y="41513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gripForce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664208" y="4169664"/>
            <a:ext cx="1316736" cy="1554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026664" y="4151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4320" y="4352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body_fat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664208" y="4370832"/>
            <a:ext cx="877824" cy="1554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587752" y="4352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74320" y="4553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664208" y="4572000"/>
            <a:ext cx="585216" cy="1554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295144" y="4553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74320" y="4754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sit_bend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664208" y="4773168"/>
            <a:ext cx="438912" cy="1554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14884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303520" y="3410712"/>
            <a:ext cx="3520440" cy="1389888"/>
          </a:xfrm>
          <a:prstGeom prst="rect">
            <a:avLst/>
          </a:prstGeom>
          <a:solidFill>
            <a:srgbClr val="FEF9C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303520" y="3410712"/>
            <a:ext cx="64008" cy="13898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440680" y="345643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Decision Tree Insight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440680" y="374904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depth=10 balances bias-variance tradeoff. Deeper trees (15–20) overfit: training accuracy climbs to 84% but test drops. Broad jump and sit-ups are the top 2 predictors of performance class.</a:t>
            </a:r>
            <a:endParaRPr lang="en-US" sz="1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7380DCF-14A4-D5D9-5066-A732BE826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27187"/>
            <a:ext cx="4956048" cy="23103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Results, Kernels &amp; PCA Visualization</a:t>
            </a:r>
            <a:endParaRPr lang="en-US" sz="2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029200" y="777240"/>
          <a:ext cx="37947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274320" y="3310128"/>
            <a:ext cx="8595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74320" y="3310128"/>
            <a:ext cx="8595360" cy="347472"/>
          </a:xfrm>
          <a:prstGeom prst="rect">
            <a:avLst/>
          </a:prstGeom>
          <a:solidFill>
            <a:srgbClr val="7C3AED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5760" y="3346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 PCA Visualization (from Python Notebook)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5760" y="3730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PCA?: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65760" y="391363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12-dimensional data cannot be directly visualized. PCA reduces to 2D/3D while preserving maximum variance.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542032" y="3730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Plot: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542032" y="391363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boundaries drawn between 4 classes (A/B/C/D). Some overlap visible between B and C classes.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18304" y="3730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Plot: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718304" y="391363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principal components explain ~75% of variance. Class clusters become more separable in 3D space.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94576" y="3730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894576" y="391363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 creates non-linear boundaries, better capturing the curved class separations in PCA space.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01AFE62-9B1B-D503-803D-67DCE324A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722377"/>
            <a:ext cx="48463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(MLP) — Architecture &amp; Results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17720" y="30906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715000" y="30906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neurons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812280" y="30906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neurons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909560" y="30906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2999232"/>
            <a:ext cx="8595360" cy="987552"/>
          </a:xfrm>
          <a:prstGeom prst="rect">
            <a:avLst/>
          </a:prstGeom>
          <a:solidFill>
            <a:srgbClr val="FDF2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" y="2999232"/>
            <a:ext cx="64008" cy="987552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" y="3044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Neural Network Insight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" y="33101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7 inputs → 50 neurons (hidden 1) → 100 neurons (hidden 2) → 4 output classes. ReLU activation with Adam-equivalent solver. Dropout (alpha=0.0001) prevents overfitting. The MLP achieves ~75.8% accuracy, second best overall.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486400" y="404164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per class: D (F1=0.83), A (F1=0.78). Most confusion between B and C classes (similar fitness levels).</a:t>
            </a:r>
            <a:endParaRPr lang="en-US" sz="10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157BF82F-AB7A-C4EF-6DBE-CB30D994F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731520"/>
            <a:ext cx="4327143" cy="219456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B3A54AC-0E11-5E85-95EE-E12D5DF12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722376"/>
            <a:ext cx="4480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 Experiments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3822192"/>
            <a:ext cx="8595360" cy="108944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3822192"/>
            <a:ext cx="859536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38587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22452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80:20 split consistently yields best accuracy across all models — larger training set advantage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459943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50:50 split reduces accuracy by 2–3% — less data for training increases variance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00600" y="422452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results closely track 80:20, confirming stable model performance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00600" y="448056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is the top performer across ALL split strategies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56601E-6319-CC88-E7CB-B90D33F4E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"/>
            <a:ext cx="9144000" cy="29436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— All Models Compared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 (80:20 split)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21792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698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37360" y="10698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0" y="10698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10698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0" y="10698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0" y="10698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399032"/>
            <a:ext cx="6217920" cy="384048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4320" y="14356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37360" y="14356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14356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49040" y="1435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4356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0" y="143560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1st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1783080"/>
            <a:ext cx="6217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18196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37360" y="18196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18196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72.50%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49040" y="18196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71.5%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18196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71.5%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181965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2nd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167128"/>
            <a:ext cx="6217920" cy="3840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22037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37360" y="22037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0" y="22037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49040" y="22037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63440" y="22037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22037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3rd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2551176"/>
            <a:ext cx="6217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2587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(k=30)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737360" y="25877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68.83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0" y="25877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49040" y="2587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3440" y="25877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EG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0" y="25877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3108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— Linear Regression (predicting broad_jump_cm)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3429000"/>
            <a:ext cx="6217920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" y="3456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48840" y="3456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34840" y="3456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776472"/>
            <a:ext cx="6217920" cy="34747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38039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48840" y="3803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593.2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434840" y="38039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squared prediction error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123944"/>
            <a:ext cx="6217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0040" y="4151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148840" y="41513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24.36 cm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434840" y="4151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per prediction in cm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471416"/>
            <a:ext cx="6217920" cy="34747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004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148840" y="4498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434840" y="4498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explains ~50% of variance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583680" y="1051560"/>
            <a:ext cx="2331720" cy="37490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583680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6583680" y="1691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6766560" y="2880360"/>
            <a:ext cx="19659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8368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73%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58368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 73.0%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58368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73.0%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6583680" y="40416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boundaries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overlaps best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EDA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Insights from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correlates with explosive power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3441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broad_jump_cm is the strongest predictor (importance 32%).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1965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183794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creates bimodal distributions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0482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force shows two distinct peaks — males significantly stronger.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52374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54203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negatively impacts performance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27523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participants score lower in sit-ups and broad jump.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22783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324612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not predictive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34564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Diastolic/systolic show weak correlation with class label.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9502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 most accurately predicted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41605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(class A/D) show more distinct profiles than B/C.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758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 Quality Issues Found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115568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11338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Duplicate Row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02352" y="13441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via df.duplicated().sum() — dropped immediately.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819656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02352" y="18379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sit_and_bend values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02352" y="2048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= −22.1 cm. Physiologically valid but extreme outliers exist.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523744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02352" y="2542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data types (age as float)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02352" y="27523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stored as float64, converted to int for cleaner processing.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227832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6344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02352" y="32461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outliers in body_fat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02352" y="34564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78.4% — far above typical range; IQR capping applied.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931920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02352" y="3950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as string object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02352" y="4160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Label Encoding (M→1, F→0) for model compatibility.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26280" y="777240"/>
            <a:ext cx="36576" cy="4023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Classifier: Neural 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73.0% accuracy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Decision Tree most interpretable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1579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max_depth=10, gini criterion — reveals broad_jump and sit_ups as top predictors.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6151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Neural Network competitive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8712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accuracy with 2 hidden layers — near-SVM performance, higher computation cost.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3284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size is an asset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3584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13,392 records ensures stable cross-validation with low variance across splits.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Regression needs improvement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R²=0.50 — suggests non-linear models (Random Forest, XGBoost) for better prediction.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Introduction to AI and ML  |  Body Performance Classification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1955</Words>
  <Application>Microsoft Office PowerPoint</Application>
  <PresentationFormat>On-screen Show (16:9)</PresentationFormat>
  <Paragraphs>352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Body Performance Analytics and Intelligent Classification System</dc:title>
  <dc:subject>PptxGenJS Presentation</dc:subject>
  <dc:creator>PptxGenJS</dc:creator>
  <cp:lastModifiedBy>Mostafa Shafea</cp:lastModifiedBy>
  <cp:revision>9</cp:revision>
  <dcterms:created xsi:type="dcterms:W3CDTF">2026-03-28T13:27:57Z</dcterms:created>
  <dcterms:modified xsi:type="dcterms:W3CDTF">2026-03-30T08:22:48Z</dcterms:modified>
</cp:coreProperties>
</file>